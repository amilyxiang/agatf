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84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360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background: &lt;File&gt;DeskPhone ALE-2&amp;ALE-3 R510 Validation Delivery Note.docx&lt;/File&gt; (reference_id 5020).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Internal validation scope reference: &lt;File&gt;DeskPhone ALE-2&amp;ALE-3 R510 Validation Delivery Note.docx&lt;/File&gt; (reference_id 5020).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Architecture content is based on the user-confirmed framework design.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Multi-DUT model is an architecture recommendation based on the user-confirmed requirements.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Role-binding examples are architecture recommendations based on the user-confirmed requirements.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recommendation developed from the confirmed design in this conversation.
Internal validation scope reference: &lt;File&gt;DeskPhone ALE-2&amp;ALE-3 R510 Validation Delivery Note.docx&lt;/File&gt; (reference_id 5020).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2F73"/>
          </a:solidFill>
          <a:ln w="12700">
            <a:solidFill>
              <a:srgbClr val="0A2F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OEM DeskPhone Automation Framework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63840" y="651967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ALE Product Qualification &amp; Acceptance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6400800"/>
          </a:xfrm>
          <a:prstGeom prst="rect">
            <a:avLst/>
          </a:prstGeom>
          <a:solidFill>
            <a:srgbClr val="F3F7FC"/>
          </a:solidFill>
          <a:ln w="12700">
            <a:solidFill>
              <a:srgbClr val="F3F7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58368" y="822960"/>
            <a:ext cx="10881360" cy="4983480"/>
          </a:xfrm>
          <a:prstGeom prst="roundRect">
            <a:avLst>
              <a:gd name="adj" fmla="val 2202"/>
            </a:avLst>
          </a:prstGeom>
          <a:solidFill>
            <a:srgbClr val="FFFFFF">
              <a:alpha val="99000"/>
            </a:srgbClr>
          </a:solidFill>
          <a:ln w="12700">
            <a:solidFill>
              <a:srgbClr val="D7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60120" y="1261872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OEM DeskPhone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Automation 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978408" y="2798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CLI-first + GUI Interactive Mode + Multi-DUT Runtime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8408" y="341071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统一管理 SIP / NOE、API / Physical Backend，以及 1–5 台 DUT 的测试执行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78408" y="4251960"/>
            <a:ext cx="2103120" cy="347472"/>
          </a:xfrm>
          <a:prstGeom prst="roundRect">
            <a:avLst>
              <a:gd name="adj" fmla="val 26316"/>
            </a:avLst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78408" y="43159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Case-driven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4251960"/>
            <a:ext cx="2331720" cy="347472"/>
          </a:xfrm>
          <a:prstGeom prst="roundRect">
            <a:avLst>
              <a:gd name="adj" fmla="val 26316"/>
            </a:avLst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246120" y="43159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Configuration-driven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425196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208A4E"/>
          </a:solidFill>
          <a:ln w="12700">
            <a:solidFill>
              <a:srgbClr val="208A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760720" y="43159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Single Core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4251960"/>
            <a:ext cx="2286000" cy="347472"/>
          </a:xfrm>
          <a:prstGeom prst="roundRect">
            <a:avLst>
              <a:gd name="adj" fmla="val 26316"/>
            </a:avLst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138160" y="4315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Role-based Binding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78408" y="5010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 YY 与 Automation / QA 团队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01｜目标与设计原则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先统一测试语言，再隔离产品实现差异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2606040" cy="109728"/>
          </a:xfrm>
          <a:prstGeom prst="rect">
            <a:avLst/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13816" y="13898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Case-driven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3816" y="1847088"/>
            <a:ext cx="2167128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 Repository 描述可执行的测试能力；运行时从库中选择适用 Case。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11887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606040" cy="109728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621024" y="13898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Configuration-driven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21024" y="1847088"/>
            <a:ext cx="2167128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Device Profile 与 Lab Config 定义本次测试对象、能力与可用资源。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1887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208776" y="1188720"/>
            <a:ext cx="2606040" cy="109728"/>
          </a:xfrm>
          <a:prstGeom prst="rect">
            <a:avLst/>
          </a:prstGeom>
          <a:solidFill>
            <a:srgbClr val="208A4E"/>
          </a:solidFill>
          <a:ln w="12700">
            <a:solidFill>
              <a:srgbClr val="208A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28232" y="13898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8A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CLI-first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8232" y="1847088"/>
            <a:ext cx="2167128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 是 Jenkins / CI 的正式入口；GUI 是可选 Interactive Mode。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15984" y="11887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015984" y="1188720"/>
            <a:ext cx="2606040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235440" y="13898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A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Single Automation Core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1847088"/>
            <a:ext cx="2167128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GUI 与 CLI 共享 Test Plan、Parser、Binder、Executor 与 Evidence。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3429000"/>
            <a:ext cx="11027664" cy="2103120"/>
          </a:xfrm>
          <a:prstGeom prst="roundRect">
            <a:avLst>
              <a:gd name="adj" fmla="val 3478"/>
            </a:avLst>
          </a:prstGeom>
          <a:solidFill>
            <a:srgbClr val="EDF4FF"/>
          </a:solidFill>
          <a:ln w="12700">
            <a:solidFill>
              <a:srgbClr val="B6CB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68680" y="36850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核心架构判断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4187952"/>
            <a:ext cx="1042416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 定义 WHAT；Config 定义 available capabilities；Resolver 决定由谁实现；Provider 定义 HOW；Executor 决定何时执行。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02｜High-level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Jenkins / CLI 与 QA / GUI 汇合到同一个 Test Plan 和 Automation Core</a:t>
            </a:r>
            <a:endParaRPr lang="en-US" sz="1100" dirty="0"/>
          </a:p>
        </p:txBody>
      </p:sp>
      <p:pic>
        <p:nvPicPr>
          <p:cNvPr id="4" name="Image 0" descr="/home/oai/share/oem_ppt_work/generated_image_20260917062639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422" y="1078992"/>
            <a:ext cx="7749540" cy="5166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03｜Initialization：配置先定义运行上下文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 之前完成配置补充与校验，避免执行阶段再猜测环境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246120" cy="36118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246120" cy="109728"/>
          </a:xfrm>
          <a:prstGeom prst="rect">
            <a:avLst/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9536" y="143560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Device Profile / HW Config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1892808"/>
            <a:ext cx="2807208" cy="2807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描述设备类型，而非设备实例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协议：SIP / NOE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Capabilities：Hold、Transfer、Conference…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Operation mode：API / Physical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支持的 Provider / key map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62272" y="1234440"/>
            <a:ext cx="3246120" cy="36118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462272" y="1234440"/>
            <a:ext cx="3246120" cy="109728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681728" y="143560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Lab Config / Instance Config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1728" y="1892808"/>
            <a:ext cx="2807208" cy="2807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描述真实 DUT instances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IP / SSH port / Credential reference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TFTP / Network / Audio service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Robot / Camera / Power resource mapping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External platform context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75320" y="1234440"/>
            <a:ext cx="3246120" cy="36118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275320" y="1234440"/>
            <a:ext cx="3246120" cy="109728"/>
          </a:xfrm>
          <a:prstGeom prst="rect">
            <a:avLst/>
          </a:prstGeom>
          <a:solidFill>
            <a:srgbClr val="208A4E"/>
          </a:solidFill>
          <a:ln w="12700">
            <a:solidFill>
              <a:srgbClr val="208A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94776" y="143560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8A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Runtime Context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94776" y="1892808"/>
            <a:ext cx="2807208" cy="2807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合并静态能力与本次实验室实例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 DUT Pool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暴露 protocol / capabilities / backend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提供资源句柄，而非明文 secrets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 Case Filter 与 Binder 使用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04488" y="3017520"/>
            <a:ext cx="466344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726680" y="3017520"/>
            <a:ext cx="45720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143000" y="5166360"/>
            <a:ext cx="9875520" cy="658368"/>
          </a:xfrm>
          <a:prstGeom prst="roundRect">
            <a:avLst>
              <a:gd name="adj" fmla="val 8333"/>
            </a:avLst>
          </a:prstGeom>
          <a:solidFill>
            <a:srgbClr val="FFF3D6"/>
          </a:solidFill>
          <a:ln w="12700">
            <a:solidFill>
              <a:srgbClr val="E7C5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417320" y="536752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4B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Sensitive credentials：Config 只保存 credential reference；真实 password / token / private key 在运行时由受控 Secret Provider 注入。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04｜Multi-DUT Runtime Model（1–5 台）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Device Profile 描述类型；Lab Config 描述实例；Runtime Context 构建 DUT Pool</a:t>
            </a:r>
            <a:endParaRPr lang="en-US" sz="1100" dirty="0"/>
          </a:p>
        </p:txBody>
      </p:sp>
      <p:pic>
        <p:nvPicPr>
          <p:cNvPr id="4" name="Image 0" descr="/home/oai/share/oem_ppt_work/generated_image_20260917062639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118" y="1060704"/>
            <a:ext cx="802386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05｜Case Repository &amp; Selection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 Case 库经过 Context 与资源条件过滤，生成 Applicable Case List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18872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21792" y="1188720"/>
            <a:ext cx="2606040" cy="109728"/>
          </a:xfrm>
          <a:prstGeom prst="rect">
            <a:avLst/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41248" y="13898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Common Cases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847088"/>
            <a:ext cx="2167128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Basic Call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Hold / Resume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Transfer / Conference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 / Audio / Reboot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18872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429000" y="1188720"/>
            <a:ext cx="2606040" cy="109728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648456" y="13898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SIP Cases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48456" y="1847088"/>
            <a:ext cx="2167128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REGISTER / Authentication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SDP / TLS / SRTP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SIP timers / robustness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6208" y="118872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236208" y="1188720"/>
            <a:ext cx="2606040" cy="109728"/>
          </a:xfrm>
          <a:prstGeom prst="rect">
            <a:avLst/>
          </a:prstGeom>
          <a:solidFill>
            <a:srgbClr val="008A91"/>
          </a:solidFill>
          <a:ln w="12700">
            <a:solidFill>
              <a:srgbClr val="008A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55664" y="13898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A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NOE Cases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5664" y="1847088"/>
            <a:ext cx="2167128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NOE initialization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NOE signaling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NOE recovery / security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43416" y="118872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043416" y="1188720"/>
            <a:ext cx="2514600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262872" y="138988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A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 Metadata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62872" y="1847088"/>
            <a:ext cx="2075688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Protocol / category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Required capabilities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Required DUT roles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Required resources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3675888"/>
            <a:ext cx="2011680" cy="640080"/>
          </a:xfrm>
          <a:prstGeom prst="chevron">
            <a:avLst/>
          </a:prstGeom>
          <a:solidFill>
            <a:srgbClr val="EAF0F8"/>
          </a:solidFill>
          <a:ln w="12700">
            <a:solidFill>
              <a:srgbClr val="B5C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417320" y="3877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Runtime Context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3675888"/>
            <a:ext cx="2011680" cy="640080"/>
          </a:xfrm>
          <a:prstGeom prst="chevron">
            <a:avLst/>
          </a:prstGeom>
          <a:solidFill>
            <a:srgbClr val="EAF0F8"/>
          </a:solidFill>
          <a:ln w="12700">
            <a:solidFill>
              <a:srgbClr val="B5C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410712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Protocol + Capability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03520" y="3675888"/>
            <a:ext cx="2011680" cy="640080"/>
          </a:xfrm>
          <a:prstGeom prst="chevron">
            <a:avLst/>
          </a:prstGeom>
          <a:solidFill>
            <a:srgbClr val="EAF0F8"/>
          </a:solidFill>
          <a:ln w="12700">
            <a:solidFill>
              <a:srgbClr val="B5C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522976" y="3840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DUT Count + Roles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60920" y="3675888"/>
            <a:ext cx="2011680" cy="640080"/>
          </a:xfrm>
          <a:prstGeom prst="chevron">
            <a:avLst/>
          </a:prstGeom>
          <a:solidFill>
            <a:srgbClr val="EAF0F8"/>
          </a:solidFill>
          <a:ln w="12700">
            <a:solidFill>
              <a:srgbClr val="B5C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616952" y="3840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Physical Resources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418320" y="3675888"/>
            <a:ext cx="2011680" cy="640080"/>
          </a:xfrm>
          <a:prstGeom prst="chevron">
            <a:avLst/>
          </a:prstGeom>
          <a:solidFill>
            <a:srgbClr val="208A4E"/>
          </a:solidFill>
          <a:ln w="12700">
            <a:solidFill>
              <a:srgbClr val="208A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656064" y="38496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Applicable Cases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4919472"/>
            <a:ext cx="10332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状态必须区分：NOT_APPLICABLE（协议/能力不适用）｜BLOCKED_RESOURCE（DUT 或台架资源不足）｜CONFIG_ERROR｜READY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06｜Generated Test Plan：标准执行边界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把“准备什么”冻结为可审计、可复现、可由 CLI 或 GUI 执行的计划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834640" cy="43434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0120" y="15361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6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Device Profiles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Lab Config / DUT Pool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Selected scope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Applicable Case List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CLI / GUI parameters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11880" y="3401568"/>
            <a:ext cx="612648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279392" y="1097280"/>
            <a:ext cx="3749040" cy="4617720"/>
          </a:xfrm>
          <a:prstGeom prst="roundRect">
            <a:avLst>
              <a:gd name="adj" fmla="val 1951"/>
            </a:avLst>
          </a:prstGeom>
          <a:solidFill>
            <a:srgbClr val="EAF4FF"/>
          </a:solidFill>
          <a:ln w="19050">
            <a:solidFill>
              <a:srgbClr val="9FC1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645152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Test Plan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1956816"/>
            <a:ext cx="288036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run_id: OEM_X1_R100_001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DUT Pool: dut_01 … dut_05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Environment: SH_LAB_01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Selected Cases: …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Role Bindings: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caller → dut_01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callee → dut_02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host → dut_01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participant_1 → dut_02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participant_2 → dut_03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Expected artifacts: JUnit / PCAP / Screen / Audio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3401568"/>
            <a:ext cx="621792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750808" y="1234440"/>
            <a:ext cx="2697480" cy="4343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006840" y="15361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0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4000" y="2176272"/>
            <a:ext cx="192024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 run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GUI preview / run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Automation Core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Jenkins artifact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Re-run failed cases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07｜Logical DUT Role Binding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 引用逻辑 Role；Resource Binder 在生成 Test Plan 时映射到真实 DUT</a:t>
            </a:r>
            <a:endParaRPr lang="en-US" sz="1100" dirty="0"/>
          </a:p>
        </p:txBody>
      </p:sp>
      <p:pic>
        <p:nvPicPr>
          <p:cNvPr id="4" name="Image 0" descr="/home/oai/share/oem_ppt_work/generated_image_20260917062639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1024128"/>
            <a:ext cx="8119872" cy="54132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08｜Unified Execution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只有选中的 Case 才进入完整解析、角色绑定、Provider 绑定与执行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1666C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41248" y="1344168"/>
            <a:ext cx="438912" cy="438912"/>
          </a:xfrm>
          <a:prstGeom prst="ellipse">
            <a:avLst/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41248" y="14173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26464" y="13990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Load &amp; Validate Config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55264" y="1920240"/>
            <a:ext cx="0" cy="21031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13232" y="2167128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1666C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41248" y="2276856"/>
            <a:ext cx="438912" cy="438912"/>
          </a:xfrm>
          <a:prstGeom prst="ellipse">
            <a:avLst/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1248" y="23500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23317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 Runtime Context / DUT Pool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55264" y="2852928"/>
            <a:ext cx="0" cy="21031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13232" y="3099816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00A6C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41248" y="3209544"/>
            <a:ext cx="438912" cy="43891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1248" y="32826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32644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Discover &amp; Filter Cases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55264" y="3785616"/>
            <a:ext cx="0" cy="21031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13232" y="4032504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00A6C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41248" y="4142232"/>
            <a:ext cx="438912" cy="43891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41248" y="421538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4197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 Test Plan / Role Binding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55264" y="4718304"/>
            <a:ext cx="0" cy="21031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13232" y="496519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F47A2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41248" y="5074920"/>
            <a:ext cx="438912" cy="438912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41248" y="51480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26464" y="51297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Parse → Atomic Steps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F47A2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437376" y="1344168"/>
            <a:ext cx="438912" cy="438912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437376" y="14173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22592" y="13990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Bind Action / Verify Providers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851392" y="1920240"/>
            <a:ext cx="0" cy="21031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309360" y="2167128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208A4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437376" y="2276856"/>
            <a:ext cx="438912" cy="438912"/>
          </a:xfrm>
          <a:prstGeom prst="ellipse">
            <a:avLst/>
          </a:prstGeom>
          <a:solidFill>
            <a:srgbClr val="208A4E"/>
          </a:solidFill>
          <a:ln w="12700">
            <a:solidFill>
              <a:srgbClr val="208A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437376" y="23500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22592" y="23317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Pre-check &amp; Reserve Resources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851392" y="2852928"/>
            <a:ext cx="0" cy="21031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309360" y="3099816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208A4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437376" y="3209544"/>
            <a:ext cx="438912" cy="438912"/>
          </a:xfrm>
          <a:prstGeom prst="ellipse">
            <a:avLst/>
          </a:prstGeom>
          <a:solidFill>
            <a:srgbClr val="208A4E"/>
          </a:solidFill>
          <a:ln w="12700">
            <a:solidFill>
              <a:srgbClr val="208A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437376" y="32826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22592" y="32644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Execute in Order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851392" y="3785616"/>
            <a:ext cx="0" cy="21031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309360" y="4032504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0A2F7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437376" y="4142232"/>
            <a:ext cx="438912" cy="438912"/>
          </a:xfrm>
          <a:prstGeom prst="ellipse">
            <a:avLst/>
          </a:prstGeom>
          <a:solidFill>
            <a:srgbClr val="0A2F73"/>
          </a:solidFill>
          <a:ln w="12700">
            <a:solidFill>
              <a:srgbClr val="0A2F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437376" y="421538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22592" y="4197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Evidence → Verdict → Report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851392" y="4718304"/>
            <a:ext cx="0" cy="21031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309360" y="496519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0A2F7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437376" y="5074920"/>
            <a:ext cx="438912" cy="438912"/>
          </a:xfrm>
          <a:prstGeom prst="ellipse">
            <a:avLst/>
          </a:prstGeom>
          <a:solidFill>
            <a:srgbClr val="0A2F73"/>
          </a:solidFill>
          <a:ln w="12700">
            <a:solidFill>
              <a:srgbClr val="0A2F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437376" y="51480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22592" y="51297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Cleanup &amp; Release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779008" y="3429000"/>
            <a:ext cx="45720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09｜Automation Core Layered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 描述 WHAT；具体 OEM 差异留在 Resolver / Provider 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97280" y="1143000"/>
            <a:ext cx="100126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97280" y="1143000"/>
            <a:ext cx="2377440" cy="530352"/>
          </a:xfrm>
          <a:prstGeom prst="rect">
            <a:avLst/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03320" y="126187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业务意图与角色需求：caller / callee / host 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48" y="1682496"/>
            <a:ext cx="0" cy="16459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097280" y="1856232"/>
            <a:ext cx="10012680" cy="530352"/>
          </a:xfrm>
          <a:prstGeom prst="roundRect">
            <a:avLst>
              <a:gd name="adj" fmla="val 6897"/>
            </a:avLst>
          </a:prstGeom>
          <a:solidFill>
            <a:srgbClr val="F2F6FB"/>
          </a:solidFill>
          <a:ln w="1524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097280" y="1856232"/>
            <a:ext cx="2377440" cy="530352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234440" y="19933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Parser / Compiler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197510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selected case 转换为有序 Atomic Steps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9048" y="2395728"/>
            <a:ext cx="0" cy="16459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2569464"/>
            <a:ext cx="100126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008A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097280" y="2569464"/>
            <a:ext cx="2377440" cy="530352"/>
          </a:xfrm>
          <a:prstGeom prst="rect">
            <a:avLst/>
          </a:prstGeom>
          <a:solidFill>
            <a:srgbClr val="008A91"/>
          </a:solidFill>
          <a:ln w="12700">
            <a:solidFill>
              <a:srgbClr val="008A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27066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Action / Verification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03320" y="268833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phone.hold / verify.call_on_hold；不包含 OEM 命令或坐标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99048" y="3108960"/>
            <a:ext cx="0" cy="16459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097280" y="3282696"/>
            <a:ext cx="10012680" cy="530352"/>
          </a:xfrm>
          <a:prstGeom prst="roundRect">
            <a:avLst>
              <a:gd name="adj" fmla="val 6897"/>
            </a:avLst>
          </a:prstGeom>
          <a:solidFill>
            <a:srgbClr val="F2F6FB"/>
          </a:solidFill>
          <a:ln w="15240">
            <a:solidFill>
              <a:srgbClr val="208A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097280" y="3282696"/>
            <a:ext cx="2377440" cy="530352"/>
          </a:xfrm>
          <a:prstGeom prst="rect">
            <a:avLst/>
          </a:prstGeom>
          <a:solidFill>
            <a:srgbClr val="208A4E"/>
          </a:solidFill>
          <a:ln w="12700">
            <a:solidFill>
              <a:srgbClr val="208A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234440" y="34198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03320" y="340156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控制顺序、timeout、retry policy、cleanup 与 step result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99048" y="3822192"/>
            <a:ext cx="0" cy="16459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097280" y="3995928"/>
            <a:ext cx="100126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097280" y="3995928"/>
            <a:ext cx="2377440" cy="530352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234440" y="41330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/ Binder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03320" y="4114800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DUT Role → DUT Instance；Action/Verify → Provider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99048" y="4535424"/>
            <a:ext cx="0" cy="16459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097280" y="4709160"/>
            <a:ext cx="10012680" cy="530352"/>
          </a:xfrm>
          <a:prstGeom prst="roundRect">
            <a:avLst>
              <a:gd name="adj" fmla="val 6897"/>
            </a:avLst>
          </a:prstGeom>
          <a:solidFill>
            <a:srgbClr val="F2F6FB"/>
          </a:solidFill>
          <a:ln w="15240">
            <a:solidFill>
              <a:srgbClr val="C83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097280" y="4709160"/>
            <a:ext cx="2377440" cy="530352"/>
          </a:xfrm>
          <a:prstGeom prst="rect">
            <a:avLst/>
          </a:prstGeom>
          <a:solidFill>
            <a:srgbClr val="C83B3B"/>
          </a:solidFill>
          <a:ln w="12700">
            <a:solidFill>
              <a:srgbClr val="C83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234440" y="48463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Implementation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03320" y="482803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SSH / REST / OEM CLI / Robot / Camera / Protocol / Audio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099048" y="5248656"/>
            <a:ext cx="0" cy="164592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097280" y="5422392"/>
            <a:ext cx="100126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0A2F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097280" y="5422392"/>
            <a:ext cx="2377440" cy="530352"/>
          </a:xfrm>
          <a:prstGeom prst="rect">
            <a:avLst/>
          </a:prstGeom>
          <a:solidFill>
            <a:srgbClr val="0A2F73"/>
          </a:solidFill>
          <a:ln w="12700">
            <a:solidFill>
              <a:srgbClr val="0A2F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234440" y="5559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/ Verdict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03320" y="554126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记录每步证据并生成 PASS / FAIL / BLOCKED / ERROR</a:t>
            </a:r>
            <a:endParaRPr lang="en-US" sz="12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10｜同一个 Hold Case，不同 OEM 实现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 / Physical 是 Implementation Strategy，不是不同的 Test Case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" y="114300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EAF4FF"/>
          </a:solidFill>
          <a:ln w="12700">
            <a:solidFill>
              <a:srgbClr val="9FC1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14904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COMMON_HOLD_001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224028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1. establish_call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2. phone.hold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3. verify.call_on_hold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4. phone.resume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5. verify.call_connected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4709160"/>
            <a:ext cx="2194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7A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 不包含 SSH command、REST endpoint、Robot 坐标或 Camera 模型。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3401568"/>
            <a:ext cx="54864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160520" y="11430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160520" y="1143000"/>
            <a:ext cx="2240280" cy="109728"/>
          </a:xfrm>
          <a:prstGeom prst="rect">
            <a:avLst/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79976" y="134416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OEM 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79976" y="1801368"/>
            <a:ext cx="18013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phone.hold → SSH Provider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verify → API state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60520" y="27432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160520" y="2743200"/>
            <a:ext cx="2240280" cy="109728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79976" y="294436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OEM 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79976" y="3401568"/>
            <a:ext cx="18013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phone.hold → REST Provider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verify → API + Protocol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0520" y="43434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160520" y="4343400"/>
            <a:ext cx="2240280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379976" y="454456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A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OEM 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79976" y="5001768"/>
            <a:ext cx="18013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phone.hold → Robot Provider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verify → Camera + Protocol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1764792"/>
            <a:ext cx="68580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492240" y="3364992"/>
            <a:ext cx="68580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492240" y="4965192"/>
            <a:ext cx="68580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242048" y="1143000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543800" y="1481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Resolver / Provider 结果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35240" y="2057400"/>
            <a:ext cx="338328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Action Resolver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根据 DUT instance 与 backend 选择执行 Provider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Verify Resolver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根据可用 observer 选择 API / Camera / Protocol / Audio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Executor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只执行抽象 step，不包含 OEM-specific if/else</a:t>
            </a:r>
            <a:endParaRPr lang="en-US" sz="13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11｜Responsibility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每一层只回答一个问题，避免 Case、Executor 与 OEM 实现相互污染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115568"/>
            <a:ext cx="10332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14400" y="1115568"/>
            <a:ext cx="2057400" cy="512064"/>
          </a:xfrm>
          <a:prstGeom prst="roundRect">
            <a:avLst>
              <a:gd name="adj" fmla="val 8929"/>
            </a:avLst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" y="12435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46120" y="1234440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我有什么设备、能力与资源？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810512"/>
            <a:ext cx="10332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14400" y="1810512"/>
            <a:ext cx="2057400" cy="512064"/>
          </a:xfrm>
          <a:prstGeom prst="roundRect">
            <a:avLst>
              <a:gd name="adj" fmla="val 8929"/>
            </a:avLst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78992" y="1938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46120" y="1929384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我要测试什么业务行为？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505456"/>
            <a:ext cx="10332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2505456"/>
            <a:ext cx="2057400" cy="512064"/>
          </a:xfrm>
          <a:prstGeom prst="roundRect">
            <a:avLst>
              <a:gd name="adj" fmla="val 8929"/>
            </a:avLst>
          </a:prstGeom>
          <a:solidFill>
            <a:srgbClr val="008A91"/>
          </a:solidFill>
          <a:ln w="12700">
            <a:solidFill>
              <a:srgbClr val="008A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78992" y="2633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 Role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46120" y="2624328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这个 Case 需要哪些逻辑设备角色？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200400"/>
            <a:ext cx="10332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3200400"/>
            <a:ext cx="2057400" cy="512064"/>
          </a:xfrm>
          <a:prstGeom prst="roundRect">
            <a:avLst>
              <a:gd name="adj" fmla="val 8929"/>
            </a:avLst>
          </a:prstGeom>
          <a:solidFill>
            <a:srgbClr val="208A4E"/>
          </a:solidFill>
          <a:ln w="12700">
            <a:solidFill>
              <a:srgbClr val="208A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78992" y="33284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Binder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46120" y="3319272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哪些真实 DUT 与台架资源承担这些角色？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895344"/>
            <a:ext cx="10332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3895344"/>
            <a:ext cx="2057400" cy="512064"/>
          </a:xfrm>
          <a:prstGeom prst="roundRect">
            <a:avLst>
              <a:gd name="adj" fmla="val 8929"/>
            </a:avLst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78992" y="4023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246120" y="4014216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这个 Action / Verify 应交给哪个 Provider？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4590288"/>
            <a:ext cx="10332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914400" y="4590288"/>
            <a:ext cx="2057400" cy="512064"/>
          </a:xfrm>
          <a:prstGeom prst="roundRect">
            <a:avLst>
              <a:gd name="adj" fmla="val 8929"/>
            </a:avLst>
          </a:prstGeom>
          <a:solidFill>
            <a:srgbClr val="C83B3B"/>
          </a:solidFill>
          <a:ln w="12700">
            <a:solidFill>
              <a:srgbClr val="C83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78992" y="47183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46120" y="4709160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具体如何调用 SSH / REST / Robot / Camera？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14400" y="5285232"/>
            <a:ext cx="10332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914400" y="5285232"/>
            <a:ext cx="2057400" cy="512064"/>
          </a:xfrm>
          <a:prstGeom prst="roundRect">
            <a:avLst>
              <a:gd name="adj" fmla="val 8929"/>
            </a:avLst>
          </a:prstGeom>
          <a:solidFill>
            <a:srgbClr val="0A2F73"/>
          </a:solidFill>
          <a:ln w="12700">
            <a:solidFill>
              <a:srgbClr val="0A2F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78992" y="54132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246120" y="5404104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什么时候执行、如何控制流程与异常？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12｜CLI-first &amp; Jenkins Integration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Jenkins 负责 orchestration；测试逻辑只存在于 CLI / Automation Core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3063240" cy="38404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207008"/>
            <a:ext cx="3063240" cy="109728"/>
          </a:xfrm>
          <a:prstGeom prst="rect">
            <a:avLst/>
          </a:prstGeom>
          <a:solidFill>
            <a:srgbClr val="0A2F73"/>
          </a:solidFill>
          <a:ln w="12700">
            <a:solidFill>
              <a:srgbClr val="0A2F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05256" y="1408176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Jenkins Responsibilities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5256" y="1865376"/>
            <a:ext cx="2624328" cy="3035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Trigger / schedule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Provide parameters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Reserve agent / workspace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Call CLI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Publish JUnit / artifacts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Archive Test Plan &amp; evidence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96512" y="1207008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434840" y="1828800"/>
            <a:ext cx="32461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7F3D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deskphone-test validate …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7F3D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deskphone-test plan …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7F3D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deskphone-test run test-plan.yaml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7F3D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deskphone-test rerun --failed 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43159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Primary Interface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366760" y="1207008"/>
            <a:ext cx="3063240" cy="38404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366760" y="1207008"/>
            <a:ext cx="3063240" cy="109728"/>
          </a:xfrm>
          <a:prstGeom prst="rect">
            <a:avLst/>
          </a:prstGeom>
          <a:solidFill>
            <a:srgbClr val="208A4E"/>
          </a:solidFill>
          <a:ln w="12700">
            <a:solidFill>
              <a:srgbClr val="208A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586216" y="1408176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8A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Framework Responsibilities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86216" y="1865376"/>
            <a:ext cx="2624328" cy="3035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Load &amp; validate config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 DUT Pool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Filter cases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Bind DUT roles/resources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Compile &amp; execute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Collect evidence / verdict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94760" y="3063240"/>
            <a:ext cx="246888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065008" y="3063240"/>
            <a:ext cx="246888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431536"/>
            <a:ext cx="10149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 OEM / DUT 数量变化通常由 Profile、Lab Config、Provider 与 Case metadata 吸收；Jenkinsfile 不应包含 SIP/NOE 或 Robot/Camera 分支。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13｜GUI Interactive Mode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可选交互入口：快速选择 DUT、Applicable Cases 与 Test Plan；不包含执行逻辑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46177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0120" y="14447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DeskPhone Test Workspace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38528"/>
            <a:ext cx="397764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DUT Pool:  ☑ DUT_01  ☑ DUT_02  ☐ DUT_03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Lab:          Shanghai-Lab-01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Scope:       Smoke / Regression / Custom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Applicable Cases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☑ Common / Basic Call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☑ Common / Hold &amp; Resume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☑ SIP / Registration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☐ NOE / Initialization   Not Applicable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[Preview Test Plan]       [Run]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76672" y="3401568"/>
            <a:ext cx="45720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925312" y="114300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925312" y="1143000"/>
            <a:ext cx="2468880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144768" y="13441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A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GUI 可以做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44768" y="1801368"/>
            <a:ext cx="2029968" cy="1069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 Preparation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Applicable Case Selection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 Plan Preview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Execution Monitor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Evidence Review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32520" y="114300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FD8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732520" y="1143000"/>
            <a:ext cx="2468880" cy="109728"/>
          </a:xfrm>
          <a:prstGeom prst="rect">
            <a:avLst/>
          </a:prstGeom>
          <a:solidFill>
            <a:srgbClr val="C83B3B"/>
          </a:solidFill>
          <a:ln w="12700">
            <a:solidFill>
              <a:srgbClr val="C83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951976" y="13441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3B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GUI 不应该做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51976" y="1801368"/>
            <a:ext cx="2029968" cy="1069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直接调用 Robot / Camera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直接执行 SSH / REST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自行解析 Case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复制一套 Executor</a:t>
            </a:r>
            <a:endParaRPr lang="en-US" sz="1150" dirty="0"/>
          </a:p>
          <a:p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绕过 Test Plan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3401568"/>
            <a:ext cx="5276088" cy="2221992"/>
          </a:xfrm>
          <a:prstGeom prst="roundRect">
            <a:avLst>
              <a:gd name="adj" fmla="val 3292"/>
            </a:avLst>
          </a:prstGeom>
          <a:solidFill>
            <a:srgbClr val="EDF4FF"/>
          </a:solidFill>
          <a:ln w="12700">
            <a:solidFill>
              <a:srgbClr val="AFC9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199632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共享边界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99632" y="4160520"/>
            <a:ext cx="470916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GUI 与 CLI/Jenkins 使用同一个 Config Model、Applicable Case List、Generated Test Plan、Automation Core 和 Result Model。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14｜Delivery Roadmap &amp; PoC Gates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先证明核心数据链与绑定模型，再扩展 CI 与交互体验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7780">
            <a:solidFill>
              <a:srgbClr val="1666C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61288" y="1572768"/>
            <a:ext cx="740664" cy="365760"/>
          </a:xfrm>
          <a:prstGeom prst="roundRect">
            <a:avLst>
              <a:gd name="adj" fmla="val 20000"/>
            </a:avLst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61288" y="1673352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P0-A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1214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6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6002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Schema / Config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Runtime Context / DUT Pool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 metadata / Test Plan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87752" y="2926080"/>
            <a:ext cx="219456" cy="0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834640" y="1353312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7780">
            <a:solidFill>
              <a:srgbClr val="00A6C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493008" y="1572768"/>
            <a:ext cx="740664" cy="365760"/>
          </a:xfrm>
          <a:prstGeom prst="roundRect">
            <a:avLst>
              <a:gd name="adj" fmla="val 20000"/>
            </a:avLst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93008" y="1673352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P0-B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63240" y="21214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Execution 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63240" y="2697480"/>
            <a:ext cx="16002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Parser / Atomic Steps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Role &amp; Provider Binding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Executor / Evidence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19472" y="2926080"/>
            <a:ext cx="219456" cy="0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166360" y="1353312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7780">
            <a:solidFill>
              <a:srgbClr val="208A4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824728" y="1572768"/>
            <a:ext cx="740664" cy="365760"/>
          </a:xfrm>
          <a:prstGeom prst="roundRect">
            <a:avLst>
              <a:gd name="adj" fmla="val 20000"/>
            </a:avLst>
          </a:prstGeom>
          <a:solidFill>
            <a:srgbClr val="208A4E"/>
          </a:solidFill>
          <a:ln w="12700">
            <a:solidFill>
              <a:srgbClr val="208A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24728" y="1673352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P0-C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94960" y="21214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8A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2697480"/>
            <a:ext cx="16002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validate / list / plan / run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Structured exit codes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JUnit / artifacts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51192" y="2926080"/>
            <a:ext cx="219456" cy="0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498080" y="1353312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7780">
            <a:solidFill>
              <a:srgbClr val="F47A2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156448" y="1572768"/>
            <a:ext cx="740664" cy="365760"/>
          </a:xfrm>
          <a:prstGeom prst="roundRect">
            <a:avLst>
              <a:gd name="adj" fmla="val 20000"/>
            </a:avLst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156448" y="1673352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26680" y="21214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7A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Jenkins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26680" y="2697480"/>
            <a:ext cx="16002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Parameterized pipeline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Resource reservation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Publish / archive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582912" y="2926080"/>
            <a:ext cx="219456" cy="0"/>
          </a:xfrm>
          <a:prstGeom prst="line">
            <a:avLst/>
          </a:prstGeom>
          <a:noFill/>
          <a:ln w="25400">
            <a:solidFill>
              <a:srgbClr val="91A4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829800" y="1353312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7780">
            <a:solidFill>
              <a:srgbClr val="0A2F73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0488168" y="1572768"/>
            <a:ext cx="740664" cy="365760"/>
          </a:xfrm>
          <a:prstGeom prst="roundRect">
            <a:avLst>
              <a:gd name="adj" fmla="val 20000"/>
            </a:avLst>
          </a:prstGeom>
          <a:solidFill>
            <a:srgbClr val="0A2F73"/>
          </a:solidFill>
          <a:ln w="12700">
            <a:solidFill>
              <a:srgbClr val="0A2F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488168" y="1673352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58400" y="21214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GUI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0" y="2697480"/>
            <a:ext cx="16002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Interactive preparation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 selection / monitor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Evidence &amp; failed rerun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05840" y="5166360"/>
            <a:ext cx="10149840" cy="621792"/>
          </a:xfrm>
          <a:prstGeom prst="roundRect">
            <a:avLst>
              <a:gd name="adj" fmla="val 7353"/>
            </a:avLst>
          </a:prstGeom>
          <a:solidFill>
            <a:srgbClr val="FFF3D6"/>
          </a:solidFill>
          <a:ln w="12700">
            <a:solidFill>
              <a:srgbClr val="E7C5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07008" y="5376672"/>
            <a:ext cx="9738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A4B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 PoC：① 1–5 DUT Pool 构建  ② Role→DUT Binding  ③ 同一 Case 绑定 API / Physical Provider  ④ BLOCKED_RESOURCE 识别  ⑤ Jenkins 发布结果</a:t>
            </a:r>
            <a:endParaRPr lang="en-US" sz="12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15｜Recommendation &amp; Decisions Needed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建议采用该架构，并先锁定 5 个关键设计决策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161288"/>
            <a:ext cx="475488" cy="475488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2984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1143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CLI-first + Optional GUI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09160" y="114300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两个入口，共享同一 Test Plan 与 Automation Core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1984248"/>
            <a:ext cx="475488" cy="475488"/>
          </a:xfrm>
          <a:prstGeom prst="ellipse">
            <a:avLst/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2960" y="212140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1965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Case Handling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196596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metadata 用于选择；selected cases 才完整解析与编译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2807208"/>
            <a:ext cx="475488" cy="475488"/>
          </a:xfrm>
          <a:prstGeom prst="ellipse">
            <a:avLst/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788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Multi-DUT Role 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278892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 引用逻辑 DUT Role，不引用具体 DUT instance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3630168"/>
            <a:ext cx="475488" cy="475488"/>
          </a:xfrm>
          <a:prstGeom prst="ellipse">
            <a:avLst/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2960" y="37673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6118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/ Provider Separation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09160" y="361188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 定义 WHAT；Provider 定义 OEM-specific HOW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453128"/>
            <a:ext cx="475488" cy="475488"/>
          </a:xfrm>
          <a:prstGeom prst="ellipse">
            <a:avLst/>
          </a:prstGeom>
          <a:solidFill>
            <a:srgbClr val="1666C5"/>
          </a:solidFill>
          <a:ln w="12700">
            <a:solidFill>
              <a:srgbClr val="1666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22960" y="45902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434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Platform Boundary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443484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OXE / OXO / Rainbow Hub 作为预配置 Test Context，不假设可控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" y="5468112"/>
            <a:ext cx="10287000" cy="548640"/>
          </a:xfrm>
          <a:prstGeom prst="roundRect">
            <a:avLst>
              <a:gd name="adj" fmla="val 8333"/>
            </a:avLst>
          </a:prstGeom>
          <a:solidFill>
            <a:srgbClr val="E8F5ED"/>
          </a:solidFill>
          <a:ln w="12700">
            <a:solidFill>
              <a:srgbClr val="A6D5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143000" y="5641848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8A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预期扩展方式：新增 OEM 产品时优先增加 Device Profile、Lab instance mapping 与 Provider；避免复制完整 Test Suite。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1781</Words>
  <Application>Microsoft Office PowerPoint</Application>
  <PresentationFormat>宽屏</PresentationFormat>
  <Paragraphs>328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DejaVu Sans Mono</vt:lpstr>
      <vt:lpstr>Noto Sans CJK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OEM DeskPhone Automation Framework</dc:title>
  <dc:subject>OEM DeskPhone Automation Framework - CLI-first, GUI Interactive Mode and Multi-DUT</dc:subject>
  <dc:creator>Microsoft Copilot</dc:creator>
  <cp:lastModifiedBy>XIANG Amily</cp:lastModifiedBy>
  <cp:revision>1</cp:revision>
  <dcterms:created xsi:type="dcterms:W3CDTF">2026-09-17T06:29:44Z</dcterms:created>
  <dcterms:modified xsi:type="dcterms:W3CDTF">2026-09-17T07:02:13Z</dcterms:modified>
</cp:coreProperties>
</file>